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492" r:id="rId3"/>
    <p:sldId id="499" r:id="rId4"/>
    <p:sldId id="500" r:id="rId5"/>
    <p:sldId id="497" r:id="rId6"/>
    <p:sldId id="503" r:id="rId7"/>
    <p:sldId id="504" r:id="rId8"/>
    <p:sldId id="505" r:id="rId9"/>
    <p:sldId id="506" r:id="rId10"/>
    <p:sldId id="507" r:id="rId11"/>
    <p:sldId id="508" r:id="rId12"/>
    <p:sldId id="511" r:id="rId13"/>
    <p:sldId id="512" r:id="rId14"/>
    <p:sldId id="513" r:id="rId15"/>
    <p:sldId id="51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63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1831-EE51-4CD8-B25E-CECB7F35255D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4677F-BF5D-4B33-B8E4-BEAB8D130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9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23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751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662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875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041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337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94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175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75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721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462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30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62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E6889-3242-2F4A-91B9-98B4A492419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005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15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77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11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38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61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258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2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63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83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21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2843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340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504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271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975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339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B278347-976C-F742-B923-E1E13ADC1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spaço Reservado para Texto 20">
            <a:extLst>
              <a:ext uri="{FF2B5EF4-FFF2-40B4-BE49-F238E27FC236}">
                <a16:creationId xmlns:a16="http://schemas.microsoft.com/office/drawing/2014/main" id="{A149F4D3-4439-3B47-984B-3A6A44F727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583710" y="3158205"/>
            <a:ext cx="2164611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spc="3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345880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803AE-AA47-4DAF-87A6-57F91F07761E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BB04F6-6199-42BA-BEFC-292803D99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51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95ACF-8BDF-30E4-9131-6F5A1D20E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060" y="234757"/>
            <a:ext cx="4123712" cy="1646302"/>
          </a:xfrm>
        </p:spPr>
        <p:txBody>
          <a:bodyPr/>
          <a:lstStyle/>
          <a:p>
            <a:pPr algn="l"/>
            <a:r>
              <a:rPr lang="pt-BR" sz="6600" dirty="0"/>
              <a:t>BOM DIA!</a:t>
            </a: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EE18E6DB-7678-EE18-2080-A4304C525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672" y="249188"/>
            <a:ext cx="2511253" cy="720823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980709A4-2AE8-5007-4F22-6ADB081624DF}"/>
              </a:ext>
            </a:extLst>
          </p:cNvPr>
          <p:cNvSpPr txBox="1">
            <a:spLocks/>
          </p:cNvSpPr>
          <p:nvPr/>
        </p:nvSpPr>
        <p:spPr>
          <a:xfrm>
            <a:off x="3081394" y="1881059"/>
            <a:ext cx="4295773" cy="8300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500" dirty="0">
                <a:solidFill>
                  <a:schemeClr val="tx1"/>
                </a:solidFill>
              </a:rPr>
              <a:t>Curso: COMANDOS ELÉTRICOS</a:t>
            </a:r>
          </a:p>
          <a:p>
            <a:pPr algn="l"/>
            <a:r>
              <a:rPr lang="pt-BR" sz="25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765DF9-26C2-4D30-A895-BD49D56732D4}"/>
              </a:ext>
            </a:extLst>
          </p:cNvPr>
          <p:cNvSpPr/>
          <p:nvPr/>
        </p:nvSpPr>
        <p:spPr>
          <a:xfrm>
            <a:off x="9461672" y="1057908"/>
            <a:ext cx="2698238" cy="7208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D606115-8AAC-466C-AFB5-32A6ABB4B9DD}"/>
              </a:ext>
            </a:extLst>
          </p:cNvPr>
          <p:cNvSpPr/>
          <p:nvPr/>
        </p:nvSpPr>
        <p:spPr>
          <a:xfrm>
            <a:off x="9493760" y="1086341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Centro de Treinamento</a:t>
            </a:r>
          </a:p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“Edward Sávio” - Jau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 descr="Imagem de jogo de vídeo game&#10;&#10;O conteúdo gerado por IA pode estar incorreto.">
            <a:extLst>
              <a:ext uri="{FF2B5EF4-FFF2-40B4-BE49-F238E27FC236}">
                <a16:creationId xmlns:a16="http://schemas.microsoft.com/office/drawing/2014/main" id="{91096A1E-3204-3771-65CB-AFA8AC61D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5" r="3196"/>
          <a:stretch/>
        </p:blipFill>
        <p:spPr>
          <a:xfrm>
            <a:off x="2353681" y="3080064"/>
            <a:ext cx="5936469" cy="282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6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0C49A1E-B398-43A0-88E3-41A39363ACE5}"/>
              </a:ext>
            </a:extLst>
          </p:cNvPr>
          <p:cNvSpPr txBox="1"/>
          <p:nvPr/>
        </p:nvSpPr>
        <p:spPr>
          <a:xfrm>
            <a:off x="1132894" y="1818593"/>
            <a:ext cx="1626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Exemplos: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AC0FB2-FECF-4FDA-A2E3-1204E06278D8}"/>
              </a:ext>
            </a:extLst>
          </p:cNvPr>
          <p:cNvSpPr txBox="1"/>
          <p:nvPr/>
        </p:nvSpPr>
        <p:spPr>
          <a:xfrm>
            <a:off x="848949" y="2777089"/>
            <a:ext cx="25224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Do catalogo de Contatores e Rele de </a:t>
            </a:r>
            <a:r>
              <a:rPr lang="pt-BR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  <a:r>
              <a:rPr lang="pt-BR" sz="1800" b="0" i="0" u="none" strike="noStrike" baseline="0" dirty="0">
                <a:latin typeface="LiberationSerif"/>
              </a:rPr>
              <a:t> abaixo, observa-se a indicação do Fusível para utilização como dispositivo de proteção. Lembrando que </a:t>
            </a:r>
            <a:r>
              <a:rPr lang="pt-BR" sz="2800" b="0" i="1" u="none" strike="noStrike" baseline="0" dirty="0">
                <a:latin typeface="LiberationSerif-Italic"/>
              </a:rPr>
              <a:t>IF</a:t>
            </a:r>
            <a:r>
              <a:rPr lang="pt-BR" sz="2800" b="0" i="0" u="none" strike="noStrike" baseline="0" dirty="0">
                <a:latin typeface="OpenSymbol"/>
              </a:rPr>
              <a:t>≤</a:t>
            </a:r>
            <a:r>
              <a:rPr lang="pt-BR" sz="2800" b="0" i="1" u="none" strike="noStrike" baseline="0" dirty="0">
                <a:latin typeface="LiberationSerif-Italic"/>
              </a:rPr>
              <a:t>IF</a:t>
            </a:r>
            <a:r>
              <a:rPr lang="pt-BR" sz="800" b="0" i="1" u="none" strike="noStrike" baseline="0" dirty="0">
                <a:latin typeface="LiberationSerif-Italic"/>
              </a:rPr>
              <a:t>MÁX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24B5B9-9694-4BA0-B2EA-8E285905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410" y="1267574"/>
            <a:ext cx="7714968" cy="5248797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F5F1FB02-D697-4DF1-09A1-7DD14F550E38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7E67310-33F5-BC58-2CE7-34BA6D727A41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79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E2905B-B8AC-4F23-BE6B-7FF6C1002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80" y="1193190"/>
            <a:ext cx="2635780" cy="45819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12B0E88-AC58-4F64-9BEA-ACAE2D137947}"/>
              </a:ext>
            </a:extLst>
          </p:cNvPr>
          <p:cNvSpPr txBox="1"/>
          <p:nvPr/>
        </p:nvSpPr>
        <p:spPr>
          <a:xfrm>
            <a:off x="3525560" y="1667652"/>
            <a:ext cx="638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Os reles de mínima tensão monitoram a tensão mínima admissível</a:t>
            </a:r>
          </a:p>
          <a:p>
            <a:pPr algn="just"/>
            <a:r>
              <a:rPr lang="pt-BR" sz="1800" b="0" i="0" u="none" strike="noStrike" baseline="0" dirty="0">
                <a:latin typeface="LiberationSerif"/>
              </a:rPr>
              <a:t>(limiar mínimo de tensão), são regulados aproximadamente em 80% do valor nominal da tensão. Quando a tensão for inferior a este limiar, o rele atua e interrompe o circuito de alimentação.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3D3E29-3C47-4F49-A685-1A75B2022B82}"/>
              </a:ext>
            </a:extLst>
          </p:cNvPr>
          <p:cNvSpPr txBox="1"/>
          <p:nvPr/>
        </p:nvSpPr>
        <p:spPr>
          <a:xfrm>
            <a:off x="3525560" y="3910484"/>
            <a:ext cx="6388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O rele de máxima corrente e utilizado para monitorar a circulação de corrente e quando ocorre o aumento de corrente acima do valor determinado, o rele atua e interrompe o circuito de alimentação.</a:t>
            </a:r>
            <a:endParaRPr lang="pt-BR" dirty="0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F3B0065E-5AD7-68BD-DA8A-1A4F4236CC40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F9EDA1-8641-E105-F346-EE5E5B48DF2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381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BD96F44-A4D4-44D6-96DE-13317D398448}"/>
              </a:ext>
            </a:extLst>
          </p:cNvPr>
          <p:cNvSpPr txBox="1"/>
          <p:nvPr/>
        </p:nvSpPr>
        <p:spPr>
          <a:xfrm>
            <a:off x="1379621" y="7457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Rele Térmico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BE0C7B-DD2F-4EA3-9212-41A51DE147B1}"/>
              </a:ext>
            </a:extLst>
          </p:cNvPr>
          <p:cNvSpPr txBox="1"/>
          <p:nvPr/>
        </p:nvSpPr>
        <p:spPr>
          <a:xfrm>
            <a:off x="1379620" y="1290117"/>
            <a:ext cx="8694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Os reles térmicos tem como principio de atuação a deformação de um bimetal. O bimetal e formado por duas laminas de metais diferentes (tipicamente ferro e níquel) cujo coeficiente de dilação e diferente, e com o aumento da temperatura provocado pelo aumento da circulação decorrente pelo bimetal este se deforma.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E3881E-6764-4177-97F5-C0073F416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523" y="3009535"/>
            <a:ext cx="2209046" cy="27160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E2430DC-C7D1-4434-953E-13284C1B9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30" y="3009535"/>
            <a:ext cx="3495893" cy="271604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768DD04-904F-ADF4-D1D2-4A25BC3A0E5D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12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212D99-F40C-4A8B-90A3-28BFA93D9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21" y="564720"/>
            <a:ext cx="8648592" cy="4598410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17530461-1504-5A9E-E368-AFF3EDD766D4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C47DED-61BF-2FBE-6116-BAE52947F177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973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4C043D4-E61A-4847-8C4D-560652AF2811}"/>
              </a:ext>
            </a:extLst>
          </p:cNvPr>
          <p:cNvSpPr txBox="1"/>
          <p:nvPr/>
        </p:nvSpPr>
        <p:spPr>
          <a:xfrm>
            <a:off x="994610" y="8580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Disjuntores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28C83E-7767-4235-B4E6-5FCD6E1BEB5F}"/>
              </a:ext>
            </a:extLst>
          </p:cNvPr>
          <p:cNvSpPr txBox="1"/>
          <p:nvPr/>
        </p:nvSpPr>
        <p:spPr>
          <a:xfrm>
            <a:off x="1122947" y="1814423"/>
            <a:ext cx="8775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Protegem contra curto-circuito e sobrecarga (proteção térmica e magnética). Com correntes que variam de 2 a 70A, podem ser monopolar, bipolar, tripolar ou tetrapolar.</a:t>
            </a:r>
          </a:p>
          <a:p>
            <a:pPr algn="l"/>
            <a:r>
              <a:rPr lang="pt-BR" sz="1800" b="0" i="0" u="none" strike="noStrike" baseline="0" dirty="0">
                <a:latin typeface="LiberationSerif"/>
              </a:rPr>
              <a:t>A sua corrente nominal deve ser menor ou igual a corrente máxima admitida pelo condutor da instalação a ser protegida.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F06788-7016-4F04-A7B8-A1E01CE2B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387" y="3601772"/>
            <a:ext cx="3778152" cy="1945466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8E541A44-9C5D-9DF5-A8FD-06DC8FB9823A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0DA204-4571-E5CA-EA01-3E6E2D0D28CB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86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9815840-97DF-4250-A6DD-D71969F9B31E}"/>
              </a:ext>
            </a:extLst>
          </p:cNvPr>
          <p:cNvSpPr txBox="1"/>
          <p:nvPr/>
        </p:nvSpPr>
        <p:spPr>
          <a:xfrm>
            <a:off x="962526" y="983853"/>
            <a:ext cx="8823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As Curvas de disparo, são normatizadas pela Norma IEC 60898.</a:t>
            </a:r>
          </a:p>
          <a:p>
            <a:pPr algn="l"/>
            <a:r>
              <a:rPr lang="pt-BR" sz="1800" b="0" i="0" u="none" strike="noStrike" baseline="0" dirty="0">
                <a:latin typeface="LiberationSerif"/>
              </a:rPr>
              <a:t>Disjuntor de Curva B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D63E2B-CEBF-4472-BDEC-0E2A437486A5}"/>
              </a:ext>
            </a:extLst>
          </p:cNvPr>
          <p:cNvSpPr txBox="1"/>
          <p:nvPr/>
        </p:nvSpPr>
        <p:spPr>
          <a:xfrm>
            <a:off x="962525" y="1653479"/>
            <a:ext cx="88231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O disjuntor de curva B tem como característica o disparo instantâneo para correntes entre 3 a 5 vezes a corrente nominal. Indicado para circuitos com características resistivas ou com grandes distancias de cabos.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12C118-0460-4A77-B1AA-7D932387444C}"/>
              </a:ext>
            </a:extLst>
          </p:cNvPr>
          <p:cNvSpPr txBox="1"/>
          <p:nvPr/>
        </p:nvSpPr>
        <p:spPr>
          <a:xfrm>
            <a:off x="962525" y="2714854"/>
            <a:ext cx="5486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Disjuntor de Curva C</a:t>
            </a:r>
          </a:p>
          <a:p>
            <a:pPr algn="just"/>
            <a:r>
              <a:rPr lang="pt-BR" sz="1800" b="0" i="0" u="none" strike="noStrike" baseline="0" dirty="0">
                <a:latin typeface="LiberationSerif"/>
              </a:rPr>
              <a:t>O disjuntor de curva C tem o disparo instantâneo para correntes entre 5 a 10 vezes a corrente nominal. Indicado para circuitos com cargas indutivas.</a:t>
            </a:r>
            <a:endParaRPr lang="pt-BR" dirty="0"/>
          </a:p>
        </p:txBody>
      </p:sp>
      <p:pic>
        <p:nvPicPr>
          <p:cNvPr id="3" name="Imagem 2" descr="Gráfico&#10;&#10;O conteúdo gerado por IA pode estar incorreto.">
            <a:extLst>
              <a:ext uri="{FF2B5EF4-FFF2-40B4-BE49-F238E27FC236}">
                <a16:creationId xmlns:a16="http://schemas.microsoft.com/office/drawing/2014/main" id="{82B9DB5E-EFA2-F4A6-360A-1AAD78EBD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2" y="2563255"/>
            <a:ext cx="2652890" cy="4121455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561D000A-BCC1-8F51-40C2-0171B1A45110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BC8CF0-3560-6FAD-595D-6B0D876E8654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611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46F25D2-AE84-4CCD-98D1-BC63A6B7D421}"/>
              </a:ext>
            </a:extLst>
          </p:cNvPr>
          <p:cNvSpPr txBox="1"/>
          <p:nvPr/>
        </p:nvSpPr>
        <p:spPr>
          <a:xfrm>
            <a:off x="1315453" y="8259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Disjuntores Motores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FB0FAB-3589-46F9-9B65-679C9C07FE66}"/>
              </a:ext>
            </a:extLst>
          </p:cNvPr>
          <p:cNvSpPr txBox="1"/>
          <p:nvPr/>
        </p:nvSpPr>
        <p:spPr>
          <a:xfrm>
            <a:off x="1315452" y="1333960"/>
            <a:ext cx="87429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Como os disjuntores, protegem contra curto-circuito e sobrecarga (proteção térmica e magnética). Possuem </a:t>
            </a:r>
            <a:r>
              <a:rPr lang="pt-BR" sz="1800" b="0" i="1" u="none" strike="noStrike" baseline="0" dirty="0">
                <a:latin typeface="LiberationSerif-Italic"/>
              </a:rPr>
              <a:t>knob </a:t>
            </a:r>
            <a:r>
              <a:rPr lang="pt-BR" sz="1800" b="0" i="0" u="none" strike="noStrike" baseline="0" dirty="0">
                <a:latin typeface="LiberationSerif"/>
              </a:rPr>
              <a:t>para o ajuste da proteção da intensidade de corrente (ajuste da proteção térmica), este ajuste possibilita uma melhor atuação no caso de sobrecarga em relação a disjuntores como o térmico fixo. Foram desenvolvidos para a proteção de motores, podem ser construídos apenas para a proteção de curto-circuito (magnéticos) ou termomagnéticos (curto-circuito e sobrecarga).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4E2707C-04E6-4F24-86D8-C946A732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977" y="3226928"/>
            <a:ext cx="4825896" cy="3317804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897CC2C9-0D14-4E80-D112-F1B39ED6A9DB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26082D-E82A-D174-251E-B0D0ED846A75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9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8F4974E-90A9-4811-AFE3-21E47271835F}"/>
              </a:ext>
            </a:extLst>
          </p:cNvPr>
          <p:cNvSpPr txBox="1"/>
          <p:nvPr/>
        </p:nvSpPr>
        <p:spPr>
          <a:xfrm>
            <a:off x="1058779" y="8420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Exemplo de utilização de Disjuntor Motor: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D14EDF-6AD8-4954-A041-2732AD4D3C68}"/>
              </a:ext>
            </a:extLst>
          </p:cNvPr>
          <p:cNvSpPr txBox="1"/>
          <p:nvPr/>
        </p:nvSpPr>
        <p:spPr>
          <a:xfrm>
            <a:off x="1203158" y="1264595"/>
            <a:ext cx="8807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Motor trifásico de 3CV IV polos 220v</a:t>
            </a:r>
            <a:r>
              <a:rPr lang="pt-BR" dirty="0">
                <a:latin typeface="LiberationSerif"/>
              </a:rPr>
              <a:t>. </a:t>
            </a:r>
            <a:r>
              <a:rPr lang="pt-BR" sz="1800" b="0" i="0" u="none" strike="noStrike" baseline="0" dirty="0">
                <a:latin typeface="LiberationSerif"/>
              </a:rPr>
              <a:t>Corrente nominal (In) de 8,18A (Catalogo</a:t>
            </a:r>
          </a:p>
          <a:p>
            <a:pPr algn="l"/>
            <a:r>
              <a:rPr lang="pt-BR" sz="1800" b="0" i="0" u="none" strike="noStrike" baseline="0" dirty="0">
                <a:latin typeface="LiberationSerif"/>
              </a:rPr>
              <a:t>WEG).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42ED4D-717B-41C2-9D47-8C3D16C972D8}"/>
              </a:ext>
            </a:extLst>
          </p:cNvPr>
          <p:cNvSpPr txBox="1"/>
          <p:nvPr/>
        </p:nvSpPr>
        <p:spPr>
          <a:xfrm>
            <a:off x="1780673" y="2044006"/>
            <a:ext cx="82296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Disjuntor de 10 A classe C (faixa de atuação de corrente de curto de 5 a 10 vezes a corrente nominal) ou classe D (faixa de atuação de corrente de curto acima de 10 vezes a corrente nominal)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C40EC-80E0-4CA1-8899-8D2736E615F7}"/>
              </a:ext>
            </a:extLst>
          </p:cNvPr>
          <p:cNvSpPr txBox="1"/>
          <p:nvPr/>
        </p:nvSpPr>
        <p:spPr>
          <a:xfrm>
            <a:off x="1780672" y="3029196"/>
            <a:ext cx="8229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Disjuntor Motor WEG (MPW 16-3-U010) ajustando o térmico em 8,5A.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14ACEB-D389-40A1-AF8A-DF17E646C065}"/>
              </a:ext>
            </a:extLst>
          </p:cNvPr>
          <p:cNvSpPr txBox="1"/>
          <p:nvPr/>
        </p:nvSpPr>
        <p:spPr>
          <a:xfrm>
            <a:off x="1780671" y="3459473"/>
            <a:ext cx="8229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Disjuntor Motor SIEMENS (3RV10 11-1JA10) ajustando o térmico em 8,5A.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9E65E7-830B-4411-B28A-4B765DB86AB6}"/>
              </a:ext>
            </a:extLst>
          </p:cNvPr>
          <p:cNvSpPr txBox="1"/>
          <p:nvPr/>
        </p:nvSpPr>
        <p:spPr>
          <a:xfrm>
            <a:off x="1203158" y="4192324"/>
            <a:ext cx="8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Conclusão: Para ambos os disjuntores motores, a atuação de sobrecarga ocorrera a partir de 8,5A, enquanto que para o disjuntor convencional, será a partir de 10A, ou seja, o ajuste do térmico dos disjuntores motores permite a atuação da proteção para valores próximos da nominal do motor.</a:t>
            </a:r>
            <a:endParaRPr lang="pt-BR" dirty="0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A640BC54-1E7C-1770-51CF-1BBCC7181F50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F8CDCA-EC0F-942B-B5CA-8270B2547BD1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758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5C0941-7779-407D-B02C-722DA0279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580" y="651879"/>
            <a:ext cx="7712947" cy="5815766"/>
          </a:xfrm>
          <a:prstGeom prst="rect">
            <a:avLst/>
          </a:prstGeom>
        </p:spPr>
      </p:pic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B1BB940D-D448-B88A-6BB4-218CE0E32600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1ADD22-373D-8027-8618-3DB44121A46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052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499332C-4BC6-4611-AD63-2367D193C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34" y="1217449"/>
            <a:ext cx="9461497" cy="5103140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53075C5-66DD-F9F2-3CA6-61C779A421E8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456D0D-5FC8-148A-BBF8-49E15A616C9F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41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A98002B-77DD-4D71-BE68-BE2C85C1BD21}"/>
              </a:ext>
            </a:extLst>
          </p:cNvPr>
          <p:cNvSpPr txBox="1"/>
          <p:nvPr/>
        </p:nvSpPr>
        <p:spPr>
          <a:xfrm>
            <a:off x="866274" y="935594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latin typeface="LiberationSerif"/>
              </a:rPr>
              <a:t>Observa-se que ao cruzar os valores de tempo (t = 5s) x Corrente (</a:t>
            </a:r>
            <a:r>
              <a:rPr lang="pt-BR" sz="1800" b="0" i="0" u="none" strike="noStrike" baseline="0" dirty="0" err="1">
                <a:latin typeface="LiberationSerif"/>
              </a:rPr>
              <a:t>Ip</a:t>
            </a:r>
            <a:r>
              <a:rPr lang="pt-BR" sz="1800" b="0" i="0" u="none" strike="noStrike" baseline="0" dirty="0">
                <a:latin typeface="LiberationSerif"/>
              </a:rPr>
              <a:t> = 113,16A), no gráfico acima, observa-se que o fusível mais adequado para utilização na proteção deste motor e o de 35A, pois a corrente de proteção dimensionada e maior que 25A e menor que 35A. </a:t>
            </a:r>
            <a:r>
              <a:rPr lang="pt-BR" sz="1800" b="0" i="1" u="none" strike="noStrike" baseline="0" dirty="0">
                <a:latin typeface="LiberationSerif-Italic"/>
              </a:rPr>
              <a:t>I </a:t>
            </a:r>
            <a:r>
              <a:rPr lang="pt-BR" sz="800" b="0" i="1" u="none" strike="noStrike" baseline="0" dirty="0">
                <a:latin typeface="LiberationSerif-Italic"/>
              </a:rPr>
              <a:t>F</a:t>
            </a:r>
            <a:r>
              <a:rPr lang="pt-BR" sz="1800" b="0" i="0" u="none" strike="noStrike" baseline="0" dirty="0">
                <a:latin typeface="OpenSymbol"/>
              </a:rPr>
              <a:t>=</a:t>
            </a:r>
            <a:r>
              <a:rPr lang="pt-BR" sz="1800" b="0" i="0" u="none" strike="noStrike" baseline="0" dirty="0">
                <a:latin typeface="LiberationSerif"/>
              </a:rPr>
              <a:t>35 </a:t>
            </a:r>
            <a:r>
              <a:rPr lang="pt-BR" sz="1800" b="0" i="1" u="none" strike="noStrike" baseline="0" dirty="0">
                <a:latin typeface="LiberationSerif-Italic"/>
              </a:rPr>
              <a:t>A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783360-88E0-47DD-BF8E-30431B55F22B}"/>
              </a:ext>
            </a:extLst>
          </p:cNvPr>
          <p:cNvSpPr txBox="1"/>
          <p:nvPr/>
        </p:nvSpPr>
        <p:spPr>
          <a:xfrm>
            <a:off x="1171074" y="2002939"/>
            <a:ext cx="883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b) Analisando pelo 2o critério, de que a corrente </a:t>
            </a:r>
            <a:r>
              <a:rPr lang="pt-BR" sz="1800" b="0" i="1" u="none" strike="noStrike" baseline="0" dirty="0">
                <a:latin typeface="LiberationSerif-Italic"/>
              </a:rPr>
              <a:t>I </a:t>
            </a:r>
            <a:r>
              <a:rPr lang="pt-BR" sz="800" b="0" i="1" u="none" strike="noStrike" baseline="0" dirty="0">
                <a:latin typeface="LiberationSerif-Italic"/>
              </a:rPr>
              <a:t>F</a:t>
            </a:r>
            <a:r>
              <a:rPr lang="pt-BR" sz="1800" b="0" i="0" u="none" strike="noStrike" baseline="0" dirty="0">
                <a:latin typeface="OpenSymbol"/>
              </a:rPr>
              <a:t>⩾</a:t>
            </a:r>
            <a:r>
              <a:rPr lang="pt-BR" sz="1800" b="0" i="0" u="none" strike="noStrike" baseline="0" dirty="0">
                <a:latin typeface="LiberationSerif"/>
              </a:rPr>
              <a:t>1,2</a:t>
            </a:r>
            <a:r>
              <a:rPr lang="pt-BR" sz="1800" b="0" i="0" u="none" strike="noStrike" baseline="0" dirty="0">
                <a:latin typeface="OpenSymbol"/>
              </a:rPr>
              <a:t>∗</a:t>
            </a:r>
            <a:r>
              <a:rPr lang="pt-BR" sz="1800" b="0" i="1" u="none" strike="noStrike" baseline="0" dirty="0">
                <a:latin typeface="LiberationSerif-Italic"/>
              </a:rPr>
              <a:t>I </a:t>
            </a:r>
            <a:r>
              <a:rPr lang="pt-BR" sz="800" b="0" i="1" u="none" strike="noStrike" baseline="0" dirty="0">
                <a:latin typeface="LiberationSerif-Italic"/>
              </a:rPr>
              <a:t>n </a:t>
            </a:r>
            <a:r>
              <a:rPr lang="pt-BR" sz="1800" b="0" i="1" u="none" strike="noStrike" baseline="0" dirty="0">
                <a:latin typeface="LiberationSerif-Italic"/>
              </a:rPr>
              <a:t>I </a:t>
            </a:r>
            <a:r>
              <a:rPr lang="pt-BR" sz="800" b="0" i="1" u="none" strike="noStrike" baseline="0" dirty="0">
                <a:latin typeface="LiberationSerif-Italic"/>
              </a:rPr>
              <a:t>F</a:t>
            </a:r>
            <a:r>
              <a:rPr lang="pt-BR" sz="1800" b="0" i="0" u="none" strike="noStrike" baseline="0" dirty="0">
                <a:latin typeface="OpenSymbol"/>
              </a:rPr>
              <a:t>⩾</a:t>
            </a:r>
            <a:r>
              <a:rPr lang="pt-BR" sz="1800" b="0" i="0" u="none" strike="noStrike" baseline="0" dirty="0">
                <a:latin typeface="LiberationSerif"/>
              </a:rPr>
              <a:t>1,2</a:t>
            </a:r>
            <a:r>
              <a:rPr lang="pt-BR" sz="1800" b="0" i="0" u="none" strike="noStrike" baseline="0" dirty="0">
                <a:latin typeface="OpenSymbol"/>
              </a:rPr>
              <a:t>∗</a:t>
            </a:r>
            <a:r>
              <a:rPr lang="pt-BR" sz="1800" b="0" i="0" u="none" strike="noStrike" baseline="0" dirty="0">
                <a:latin typeface="LiberationSerif"/>
              </a:rPr>
              <a:t>13,8 </a:t>
            </a:r>
            <a:r>
              <a:rPr lang="pt-BR" sz="1800" b="0" i="1" u="none" strike="noStrike" baseline="0" dirty="0">
                <a:latin typeface="LiberationSerif-Italic"/>
              </a:rPr>
              <a:t>I </a:t>
            </a:r>
            <a:r>
              <a:rPr lang="pt-BR" sz="800" b="0" i="1" u="none" strike="noStrike" baseline="0" dirty="0">
                <a:latin typeface="LiberationSerif-Italic"/>
              </a:rPr>
              <a:t>F</a:t>
            </a:r>
            <a:r>
              <a:rPr lang="pt-BR" sz="1800" b="0" i="0" u="none" strike="noStrike" baseline="0" dirty="0">
                <a:latin typeface="OpenSymbol"/>
              </a:rPr>
              <a:t>⩾</a:t>
            </a:r>
            <a:r>
              <a:rPr lang="pt-BR" sz="1800" b="0" i="0" u="none" strike="noStrike" baseline="0" dirty="0">
                <a:latin typeface="LiberationSerif"/>
              </a:rPr>
              <a:t>16,56 </a:t>
            </a:r>
            <a:r>
              <a:rPr lang="pt-BR" sz="1800" b="0" i="1" u="none" strike="noStrike" baseline="0" dirty="0">
                <a:latin typeface="LiberationSerif-Italic"/>
              </a:rPr>
              <a:t>A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F0DF5D-9261-40CD-A892-A56962072AF9}"/>
              </a:ext>
            </a:extLst>
          </p:cNvPr>
          <p:cNvSpPr txBox="1"/>
          <p:nvPr/>
        </p:nvSpPr>
        <p:spPr>
          <a:xfrm>
            <a:off x="1443790" y="2516286"/>
            <a:ext cx="8566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Comparando os 1os e 2os critérios, observa-se que o Fusível de 35 A satisfaz ambas as</a:t>
            </a:r>
          </a:p>
          <a:p>
            <a:pPr algn="l"/>
            <a:r>
              <a:rPr lang="pt-BR" sz="1800" b="0" i="0" u="none" strike="noStrike" baseline="0" dirty="0">
                <a:latin typeface="LiberationSerif"/>
              </a:rPr>
              <a:t>situações.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B138C3-C6FA-4027-BC44-EFA615C58A29}"/>
              </a:ext>
            </a:extLst>
          </p:cNvPr>
          <p:cNvSpPr txBox="1"/>
          <p:nvPr/>
        </p:nvSpPr>
        <p:spPr>
          <a:xfrm>
            <a:off x="1443790" y="32861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Dimensionamento do Rele e Contator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B22142-12AC-4125-A3E1-1F0317A94F89}"/>
              </a:ext>
            </a:extLst>
          </p:cNvPr>
          <p:cNvSpPr txBox="1"/>
          <p:nvPr/>
        </p:nvSpPr>
        <p:spPr>
          <a:xfrm>
            <a:off x="1443790" y="3778971"/>
            <a:ext cx="8566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c) Considerando pelo 3o critério, deve-se verificar se o rele e o contator para esta aplicação são compatíveis com este fusível como fusível máximo, ou seja, se </a:t>
            </a:r>
            <a:r>
              <a:rPr lang="pt-BR" sz="1800" b="0" i="1" u="none" strike="noStrike" baseline="0" dirty="0">
                <a:latin typeface="LiberationSerif-Italic"/>
              </a:rPr>
              <a:t>IF</a:t>
            </a:r>
            <a:r>
              <a:rPr lang="pt-BR" sz="1800" b="0" i="0" u="none" strike="noStrike" baseline="0" dirty="0">
                <a:latin typeface="OpenSymbol"/>
              </a:rPr>
              <a:t>≤</a:t>
            </a:r>
            <a:r>
              <a:rPr lang="pt-BR" sz="1800" b="0" i="1" u="none" strike="noStrike" baseline="0" dirty="0">
                <a:latin typeface="LiberationSerif-Italic"/>
              </a:rPr>
              <a:t>IF</a:t>
            </a:r>
            <a:r>
              <a:rPr lang="pt-BR" sz="800" b="0" i="1" u="none" strike="noStrike" baseline="0" dirty="0">
                <a:latin typeface="LiberationSerif-Italic"/>
              </a:rPr>
              <a:t>MÁX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33DD69-7257-4311-BBBB-43778894E173}"/>
              </a:ext>
            </a:extLst>
          </p:cNvPr>
          <p:cNvSpPr txBox="1"/>
          <p:nvPr/>
        </p:nvSpPr>
        <p:spPr>
          <a:xfrm>
            <a:off x="1443790" y="4548813"/>
            <a:ext cx="8566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Para o caso de equipamentos WEG, o Contator a ser utilizado seria o modelo CWM18 e o rele seria o modelo RW27D (11….17A)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8D01B2A-D56A-4D20-BBE5-6AED0B996164}"/>
              </a:ext>
            </a:extLst>
          </p:cNvPr>
          <p:cNvSpPr txBox="1"/>
          <p:nvPr/>
        </p:nvSpPr>
        <p:spPr>
          <a:xfrm>
            <a:off x="1443789" y="5276075"/>
            <a:ext cx="8566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O Rele térmico pode ser dimensionado pela corrente nominal do motor que esta protegendo.</a:t>
            </a:r>
            <a:endParaRPr lang="pt-BR" dirty="0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AC1FBB6F-B5CB-EC75-B3E5-F96695E02EDB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5CF8C1B-7004-FA13-6F99-F70D70021658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894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916A8D-D023-449F-92AF-7F7B1D8A0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75" y="1516138"/>
            <a:ext cx="4144740" cy="21201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607D7F1-53B5-4C09-A645-1FC01A8B4841}"/>
              </a:ext>
            </a:extLst>
          </p:cNvPr>
          <p:cNvSpPr txBox="1"/>
          <p:nvPr/>
        </p:nvSpPr>
        <p:spPr>
          <a:xfrm>
            <a:off x="1309574" y="3854281"/>
            <a:ext cx="8893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Para esta situação, tem-se: In = 13,8A → Corrente Nominal do Motor de 5cv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E5979B-E145-457F-A6F6-BCADDD4C919B}"/>
              </a:ext>
            </a:extLst>
          </p:cNvPr>
          <p:cNvSpPr txBox="1"/>
          <p:nvPr/>
        </p:nvSpPr>
        <p:spPr>
          <a:xfrm>
            <a:off x="1309575" y="4318301"/>
            <a:ext cx="8893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Utilizando a Tabela de reles térmicos WEG, pode-se utilizar: </a:t>
            </a:r>
            <a:r>
              <a:rPr lang="pt-BR" sz="1800" b="1" i="0" u="none" strike="noStrike" baseline="0" dirty="0">
                <a:latin typeface="LiberationSerif-Bold"/>
              </a:rPr>
              <a:t>RW17 – 2D3U015 ou RW17 –</a:t>
            </a:r>
          </a:p>
          <a:p>
            <a:pPr algn="l"/>
            <a:r>
              <a:rPr lang="pt-BR" sz="1800" b="1" i="0" u="none" strike="noStrike" baseline="0" dirty="0">
                <a:latin typeface="LiberationSerif-Bold"/>
              </a:rPr>
              <a:t>2D3U017</a:t>
            </a:r>
            <a:endParaRPr lang="pt-BR" dirty="0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5C4CD3D3-FECB-E27C-BC65-57A3B897392B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745836-4938-E861-0577-673B153FF5C4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61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A9394F5-7EDC-4092-9A07-45BFB30F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024" y="1757039"/>
            <a:ext cx="8244494" cy="3343921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A8380306-69FA-17A8-0E85-EADBEA64A0F8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12F32E-2A8F-279F-33E7-46DB0424454F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146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6A067E5-A1F8-43C7-BF48-E2CA6D82D202}"/>
              </a:ext>
            </a:extLst>
          </p:cNvPr>
          <p:cNvSpPr txBox="1"/>
          <p:nvPr/>
        </p:nvSpPr>
        <p:spPr>
          <a:xfrm>
            <a:off x="834190" y="7778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Dimensionamento do Disjuntor Motor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315E92-F9F0-485A-A82D-C2FAECD2887C}"/>
              </a:ext>
            </a:extLst>
          </p:cNvPr>
          <p:cNvSpPr txBox="1"/>
          <p:nvPr/>
        </p:nvSpPr>
        <p:spPr>
          <a:xfrm>
            <a:off x="834189" y="1147192"/>
            <a:ext cx="8999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LiberationSerif"/>
              </a:rPr>
              <a:t>O Disjuntor Motor também pode ser dimensionado pela corrente nominal do motor que esta</a:t>
            </a:r>
          </a:p>
          <a:p>
            <a:pPr algn="l"/>
            <a:r>
              <a:rPr lang="pt-BR" sz="1800" b="0" i="0" u="none" strike="noStrike" baseline="0" dirty="0">
                <a:latin typeface="LiberationSerif"/>
              </a:rPr>
              <a:t>protegendo.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5F6125-D687-4C6C-9D61-30A943E95CF3}"/>
              </a:ext>
            </a:extLst>
          </p:cNvPr>
          <p:cNvSpPr txBox="1"/>
          <p:nvPr/>
        </p:nvSpPr>
        <p:spPr>
          <a:xfrm>
            <a:off x="834189" y="1793523"/>
            <a:ext cx="8775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latin typeface="LiberationSerif"/>
              </a:rPr>
              <a:t>Utilizando a Tabela de disjuntor Motor WEG temos: MPW16-3-U016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B89E112-B566-4C5D-B4B0-7B64C021B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3" r="2864" b="1977"/>
          <a:stretch>
            <a:fillRect/>
          </a:stretch>
        </p:blipFill>
        <p:spPr>
          <a:xfrm>
            <a:off x="2251194" y="2250721"/>
            <a:ext cx="6511664" cy="4216924"/>
          </a:xfrm>
          <a:prstGeom prst="rect">
            <a:avLst/>
          </a:prstGeom>
        </p:spPr>
      </p:pic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AB59759-534D-95A2-1690-98D543055196}"/>
              </a:ext>
            </a:extLst>
          </p:cNvPr>
          <p:cNvSpPr txBox="1">
            <a:spLocks/>
          </p:cNvSpPr>
          <p:nvPr/>
        </p:nvSpPr>
        <p:spPr>
          <a:xfrm rot="16200000">
            <a:off x="-989005" y="3563500"/>
            <a:ext cx="2975204" cy="224055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latin typeface="Montserrat Medium"/>
              </a:rPr>
              <a:t> Centro de treinamento “Edward Savio”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D425F8-1A80-E79D-D18F-CC13E26330A0}"/>
              </a:ext>
            </a:extLst>
          </p:cNvPr>
          <p:cNvSpPr/>
          <p:nvPr/>
        </p:nvSpPr>
        <p:spPr>
          <a:xfrm>
            <a:off x="0" y="6467645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Arial" panose="020B0604020202020204" pitchFamily="34" charset="0"/>
              </a:rPr>
              <a:t>Professor: Guilherme Martins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595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Personalizada 19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00"/>
      </a:accent2>
      <a:accent3>
        <a:srgbClr val="969696"/>
      </a:accent3>
      <a:accent4>
        <a:srgbClr val="808080"/>
      </a:accent4>
      <a:accent5>
        <a:srgbClr val="000000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lh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5255</TotalTime>
  <Words>976</Words>
  <Application>Microsoft Office PowerPoint</Application>
  <PresentationFormat>Widescreen</PresentationFormat>
  <Paragraphs>85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Aptos</vt:lpstr>
      <vt:lpstr>Arial</vt:lpstr>
      <vt:lpstr>LiberationSerif</vt:lpstr>
      <vt:lpstr>LiberationSerif-Bold</vt:lpstr>
      <vt:lpstr>LiberationSerif-Italic</vt:lpstr>
      <vt:lpstr>Montserrat Medium</vt:lpstr>
      <vt:lpstr>OpenSymbol</vt:lpstr>
      <vt:lpstr>Trebuchet MS</vt:lpstr>
      <vt:lpstr>Wingdings 3</vt:lpstr>
      <vt:lpstr>Facetado</vt:lpstr>
      <vt:lpstr>BOM DIA!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VICENTE MARTINS</dc:creator>
  <cp:lastModifiedBy>Guilherme Vicente Martins</cp:lastModifiedBy>
  <cp:revision>102</cp:revision>
  <cp:lastPrinted>2022-07-21T13:29:15Z</cp:lastPrinted>
  <dcterms:created xsi:type="dcterms:W3CDTF">2022-07-17T16:44:28Z</dcterms:created>
  <dcterms:modified xsi:type="dcterms:W3CDTF">2026-01-26T23:24:28Z</dcterms:modified>
</cp:coreProperties>
</file>